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IN"/>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EEFF2346-5741-4056-9F71-FB67466FDF77}" type="datetimeFigureOut">
              <a:rPr lang="en-IN" smtClean="0"/>
              <a:t>11-10-2026</a:t>
            </a:fld>
            <a:endParaRPr lang="en-IN"/>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8E93FE00-F729-42D7-A5BB-5293366DCFB4}" type="slidenum">
              <a:rPr lang="en-IN" smtClean="0"/>
              <a:t>‹#›</a:t>
            </a:fld>
            <a:endParaRPr lang="en-IN"/>
          </a:p>
        </p:txBody>
      </p:sp>
    </p:spTree>
    <p:extLst>
      <p:ext uri="{BB962C8B-B14F-4D97-AF65-F5344CB8AC3E}">
        <p14:creationId xmlns:p14="http://schemas.microsoft.com/office/powerpoint/2010/main" val="29845873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spTree>
    <p:extLst>
      <p:ext uri="{BB962C8B-B14F-4D97-AF65-F5344CB8AC3E}">
        <p14:creationId xmlns:p14="http://schemas.microsoft.com/office/powerpoint/2010/main" val="1349904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IN"/>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EEFF2346-5741-4056-9F71-FB67466FDF77}" type="datetimeFigureOut">
              <a:rPr lang="en-IN" smtClean="0"/>
              <a:t>11-10-2026</a:t>
            </a:fld>
            <a:endParaRPr lang="en-IN"/>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8E93FE00-F729-42D7-A5BB-5293366DCFB4}" type="slidenum">
              <a:rPr lang="en-IN" smtClean="0"/>
              <a:t>‹#›</a:t>
            </a:fld>
            <a:endParaRPr lang="en-IN"/>
          </a:p>
        </p:txBody>
      </p:sp>
    </p:spTree>
    <p:extLst>
      <p:ext uri="{BB962C8B-B14F-4D97-AF65-F5344CB8AC3E}">
        <p14:creationId xmlns:p14="http://schemas.microsoft.com/office/powerpoint/2010/main" val="19186389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IN"/>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EEFF2346-5741-4056-9F71-FB67466FDF77}" type="datetimeFigureOut">
              <a:rPr lang="en-IN" smtClean="0"/>
              <a:t>11-10-2026</a:t>
            </a:fld>
            <a:endParaRPr lang="en-IN"/>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8E93FE00-F729-42D7-A5BB-5293366DCFB4}" type="slidenum">
              <a:rPr lang="en-IN" smtClean="0"/>
              <a:t>‹#›</a:t>
            </a:fld>
            <a:endParaRPr lang="en-IN"/>
          </a:p>
        </p:txBody>
      </p:sp>
    </p:spTree>
    <p:extLst>
      <p:ext uri="{BB962C8B-B14F-4D97-AF65-F5344CB8AC3E}">
        <p14:creationId xmlns:p14="http://schemas.microsoft.com/office/powerpoint/2010/main" val="40562690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6516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spTree>
    <p:extLst>
      <p:ext uri="{BB962C8B-B14F-4D97-AF65-F5344CB8AC3E}">
        <p14:creationId xmlns:p14="http://schemas.microsoft.com/office/powerpoint/2010/main" val="465086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5863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171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701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IN"/>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8E93FE00-F729-42D7-A5BB-5293366DCFB4}" type="slidenum">
              <a:rPr lang="en-IN" smtClean="0"/>
              <a:t>‹#›</a:t>
            </a:fld>
            <a:endParaRPr lang="en-IN"/>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5246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EEFF2346-5741-4056-9F71-FB67466FDF77}" type="datetimeFigureOut">
              <a:rPr lang="en-IN" smtClean="0"/>
              <a:t>11-10-2026</a:t>
            </a:fld>
            <a:endParaRPr lang="en-IN"/>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IN"/>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8E93FE00-F729-42D7-A5BB-5293366DCFB4}" type="slidenum">
              <a:rPr lang="en-IN" smtClean="0"/>
              <a:t>‹#›</a:t>
            </a:fld>
            <a:endParaRPr lang="en-IN"/>
          </a:p>
        </p:txBody>
      </p:sp>
    </p:spTree>
    <p:extLst>
      <p:ext uri="{BB962C8B-B14F-4D97-AF65-F5344CB8AC3E}">
        <p14:creationId xmlns:p14="http://schemas.microsoft.com/office/powerpoint/2010/main" val="42460729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EEFF2346-5741-4056-9F71-FB67466FDF77}" type="datetimeFigureOut">
              <a:rPr lang="en-IN" smtClean="0"/>
              <a:t>11-10-2026</a:t>
            </a:fld>
            <a:endParaRPr lang="en-IN"/>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IN"/>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8E93FE00-F729-42D7-A5BB-5293366DCFB4}" type="slidenum">
              <a:rPr lang="en-IN" smtClean="0"/>
              <a:t>‹#›</a:t>
            </a:fld>
            <a:endParaRPr lang="en-IN"/>
          </a:p>
        </p:txBody>
      </p:sp>
    </p:spTree>
    <p:extLst>
      <p:ext uri="{BB962C8B-B14F-4D97-AF65-F5344CB8AC3E}">
        <p14:creationId xmlns:p14="http://schemas.microsoft.com/office/powerpoint/2010/main" val="2401236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EEFF2346-5741-4056-9F71-FB67466FDF77}" type="datetimeFigureOut">
              <a:rPr lang="en-IN" smtClean="0"/>
              <a:t>11-10-2026</a:t>
            </a:fld>
            <a:endParaRPr lang="en-IN"/>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IN"/>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8E93FE00-F729-42D7-A5BB-5293366DCFB4}" type="slidenum">
              <a:rPr lang="en-IN" smtClean="0"/>
              <a:t>‹#›</a:t>
            </a:fld>
            <a:endParaRPr lang="en-IN"/>
          </a:p>
        </p:txBody>
      </p:sp>
    </p:spTree>
    <p:extLst>
      <p:ext uri="{BB962C8B-B14F-4D97-AF65-F5344CB8AC3E}">
        <p14:creationId xmlns:p14="http://schemas.microsoft.com/office/powerpoint/2010/main" val="28475463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EEFF2346-5741-4056-9F71-FB67466FDF77}" type="datetimeFigureOut">
              <a:rPr lang="en-IN" smtClean="0"/>
              <a:t>11-10-2026</a:t>
            </a:fld>
            <a:endParaRPr lang="en-IN"/>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IN"/>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8E93FE00-F729-42D7-A5BB-5293366DCFB4}" type="slidenum">
              <a:rPr lang="en-IN" smtClean="0"/>
              <a:t>‹#›</a:t>
            </a:fld>
            <a:endParaRPr lang="en-IN"/>
          </a:p>
        </p:txBody>
      </p:sp>
    </p:spTree>
    <p:extLst>
      <p:ext uri="{BB962C8B-B14F-4D97-AF65-F5344CB8AC3E}">
        <p14:creationId xmlns:p14="http://schemas.microsoft.com/office/powerpoint/2010/main" val="30620981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EEFF2346-5741-4056-9F71-FB67466FDF77}" type="datetimeFigureOut">
              <a:rPr lang="en-IN" smtClean="0"/>
              <a:t>11-10-2026</a:t>
            </a:fld>
            <a:endParaRPr lang="en-IN"/>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IN"/>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8E93FE00-F729-42D7-A5BB-5293366DCFB4}" type="slidenum">
              <a:rPr lang="en-IN" smtClean="0"/>
              <a:t>‹#›</a:t>
            </a:fld>
            <a:endParaRPr lang="en-IN"/>
          </a:p>
        </p:txBody>
      </p:sp>
    </p:spTree>
    <p:extLst>
      <p:ext uri="{BB962C8B-B14F-4D97-AF65-F5344CB8AC3E}">
        <p14:creationId xmlns:p14="http://schemas.microsoft.com/office/powerpoint/2010/main" val="27568339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02764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12346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IN"/>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EEFF2346-5741-4056-9F71-FB67466FDF77}" type="datetimeFigureOut">
              <a:rPr lang="en-IN" smtClean="0"/>
              <a:t>11-10-2026</a:t>
            </a:fld>
            <a:endParaRPr lang="en-IN"/>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8E93FE00-F729-42D7-A5BB-5293366DCFB4}" type="slidenum">
              <a:rPr lang="en-IN" smtClean="0"/>
              <a:t>‹#›</a:t>
            </a:fld>
            <a:endParaRPr lang="en-IN"/>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3249613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79398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33964342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spTree>
    <p:extLst>
      <p:ext uri="{BB962C8B-B14F-4D97-AF65-F5344CB8AC3E}">
        <p14:creationId xmlns:p14="http://schemas.microsoft.com/office/powerpoint/2010/main" val="3881686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spTree>
    <p:extLst>
      <p:ext uri="{BB962C8B-B14F-4D97-AF65-F5344CB8AC3E}">
        <p14:creationId xmlns:p14="http://schemas.microsoft.com/office/powerpoint/2010/main" val="2339341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spTree>
    <p:extLst>
      <p:ext uri="{BB962C8B-B14F-4D97-AF65-F5344CB8AC3E}">
        <p14:creationId xmlns:p14="http://schemas.microsoft.com/office/powerpoint/2010/main" val="23941917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spTree>
    <p:extLst>
      <p:ext uri="{BB962C8B-B14F-4D97-AF65-F5344CB8AC3E}">
        <p14:creationId xmlns:p14="http://schemas.microsoft.com/office/powerpoint/2010/main" val="35148020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spTree>
    <p:extLst>
      <p:ext uri="{BB962C8B-B14F-4D97-AF65-F5344CB8AC3E}">
        <p14:creationId xmlns:p14="http://schemas.microsoft.com/office/powerpoint/2010/main" val="815951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8E93FE00-F729-42D7-A5BB-5293366DCFB4}" type="slidenum">
              <a:rPr lang="en-IN" smtClean="0"/>
              <a:t>‹#›</a:t>
            </a:fld>
            <a:endParaRPr lang="en-IN"/>
          </a:p>
        </p:txBody>
      </p:sp>
    </p:spTree>
    <p:extLst>
      <p:ext uri="{BB962C8B-B14F-4D97-AF65-F5344CB8AC3E}">
        <p14:creationId xmlns:p14="http://schemas.microsoft.com/office/powerpoint/2010/main" val="29301345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FF2346-5741-4056-9F71-FB67466FDF77}" type="datetimeFigureOut">
              <a:rPr lang="en-IN" smtClean="0"/>
              <a:t>11-10-2026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93FE00-F729-42D7-A5BB-5293366DCFB4}" type="slidenum">
              <a:rPr lang="en-IN" smtClean="0"/>
              <a:t>‹#›</a:t>
            </a:fld>
            <a:endParaRPr lang="en-IN"/>
          </a:p>
        </p:txBody>
      </p:sp>
    </p:spTree>
    <p:extLst>
      <p:ext uri="{BB962C8B-B14F-4D97-AF65-F5344CB8AC3E}">
        <p14:creationId xmlns:p14="http://schemas.microsoft.com/office/powerpoint/2010/main" val="28695496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5470B-DFE6-569E-C805-EC23539748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796E89B-4904-78EB-0C44-633690FA0F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1E37E1-0304-184C-60C6-C25FA8A61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646B28-2BCF-F206-D2D4-9777325B3878}"/>
              </a:ext>
            </a:extLst>
          </p:cNvPr>
          <p:cNvSpPr>
            <a:spLocks noGrp="1"/>
          </p:cNvSpPr>
          <p:nvPr>
            <p:ph type="dt" sz="half" idx="10"/>
          </p:nvPr>
        </p:nvSpPr>
        <p:spPr/>
        <p:txBody>
          <a:bodyPr/>
          <a:lstStyle/>
          <a:p>
            <a:fld id="{EEFF2346-5741-4056-9F71-FB67466FDF77}" type="datetimeFigureOut">
              <a:rPr lang="en-IN" smtClean="0"/>
              <a:t>11-10-2026</a:t>
            </a:fld>
            <a:endParaRPr lang="en-IN"/>
          </a:p>
        </p:txBody>
      </p:sp>
      <p:sp>
        <p:nvSpPr>
          <p:cNvPr id="6" name="Footer Placeholder 5">
            <a:extLst>
              <a:ext uri="{FF2B5EF4-FFF2-40B4-BE49-F238E27FC236}">
                <a16:creationId xmlns:a16="http://schemas.microsoft.com/office/drawing/2014/main" id="{383C1D49-528A-A664-B090-C079C67514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05D3D3-D98C-C7AD-4EEB-EAA9DAA5ED24}"/>
              </a:ext>
            </a:extLst>
          </p:cNvPr>
          <p:cNvSpPr>
            <a:spLocks noGrp="1"/>
          </p:cNvSpPr>
          <p:nvPr>
            <p:ph type="sldNum" sz="quarter" idx="12"/>
          </p:nvPr>
        </p:nvSpPr>
        <p:spPr/>
        <p:txBody>
          <a:bodyPr/>
          <a:lstStyle/>
          <a:p>
            <a:fld id="{8E93FE00-F729-42D7-A5BB-5293366DCFB4}" type="slidenum">
              <a:rPr lang="en-IN" smtClean="0"/>
              <a:t>‹#›</a:t>
            </a:fld>
            <a:endParaRPr lang="en-IN"/>
          </a:p>
        </p:txBody>
      </p:sp>
    </p:spTree>
    <p:extLst>
      <p:ext uri="{BB962C8B-B14F-4D97-AF65-F5344CB8AC3E}">
        <p14:creationId xmlns:p14="http://schemas.microsoft.com/office/powerpoint/2010/main" val="30392786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A1F72-41B2-69A7-C766-55DFE4A02E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55054C1-299B-AE54-7C34-80341E0560A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821AE9-5CD7-2644-F97F-2B3F93C3D7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C7A038-0622-4F3A-7BC3-D0ADB1014242}"/>
              </a:ext>
            </a:extLst>
          </p:cNvPr>
          <p:cNvSpPr>
            <a:spLocks noGrp="1"/>
          </p:cNvSpPr>
          <p:nvPr>
            <p:ph type="dt" sz="half" idx="10"/>
          </p:nvPr>
        </p:nvSpPr>
        <p:spPr/>
        <p:txBody>
          <a:bodyPr/>
          <a:lstStyle/>
          <a:p>
            <a:fld id="{EEFF2346-5741-4056-9F71-FB67466FDF77}" type="datetimeFigureOut">
              <a:rPr lang="en-IN" smtClean="0"/>
              <a:t>11-10-2026</a:t>
            </a:fld>
            <a:endParaRPr lang="en-IN"/>
          </a:p>
        </p:txBody>
      </p:sp>
      <p:sp>
        <p:nvSpPr>
          <p:cNvPr id="6" name="Footer Placeholder 5">
            <a:extLst>
              <a:ext uri="{FF2B5EF4-FFF2-40B4-BE49-F238E27FC236}">
                <a16:creationId xmlns:a16="http://schemas.microsoft.com/office/drawing/2014/main" id="{B0C9B78D-9E1F-2A86-3F75-9E29DE65B5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5EC486-E573-7A42-46A8-8E869D2CC600}"/>
              </a:ext>
            </a:extLst>
          </p:cNvPr>
          <p:cNvSpPr>
            <a:spLocks noGrp="1"/>
          </p:cNvSpPr>
          <p:nvPr>
            <p:ph type="sldNum" sz="quarter" idx="12"/>
          </p:nvPr>
        </p:nvSpPr>
        <p:spPr/>
        <p:txBody>
          <a:bodyPr/>
          <a:lstStyle/>
          <a:p>
            <a:fld id="{8E93FE00-F729-42D7-A5BB-5293366DCFB4}" type="slidenum">
              <a:rPr lang="en-IN" smtClean="0"/>
              <a:t>‹#›</a:t>
            </a:fld>
            <a:endParaRPr lang="en-IN"/>
          </a:p>
        </p:txBody>
      </p:sp>
    </p:spTree>
    <p:extLst>
      <p:ext uri="{BB962C8B-B14F-4D97-AF65-F5344CB8AC3E}">
        <p14:creationId xmlns:p14="http://schemas.microsoft.com/office/powerpoint/2010/main" val="2681754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IN"/>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EEFF2346-5741-4056-9F71-FB67466FDF77}" type="datetimeFigureOut">
              <a:rPr lang="en-IN" smtClean="0"/>
              <a:t>11-10-2026</a:t>
            </a:fld>
            <a:endParaRPr lang="en-IN"/>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8E93FE00-F729-42D7-A5BB-5293366DCFB4}" type="slidenum">
              <a:rPr lang="en-IN" smtClean="0"/>
              <a:t>‹#›</a:t>
            </a:fld>
            <a:endParaRPr lang="en-IN"/>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751165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711" r:id="rId21"/>
    <p:sldLayoutId id="2147483712" r:id="rId22"/>
    <p:sldLayoutId id="2147483713" r:id="rId23"/>
    <p:sldLayoutId id="2147483714" r:id="rId24"/>
    <p:sldLayoutId id="2147483715" r:id="rId25"/>
    <p:sldLayoutId id="2147483716" r:id="rId26"/>
    <p:sldLayoutId id="2147483717" r:id="rId27"/>
    <p:sldLayoutId id="2147483718" r:id="rId28"/>
    <p:sldLayoutId id="2147483719" r:id="rId29"/>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DFF3D8-9D1A-97DB-838C-6441AECF250D}"/>
              </a:ext>
            </a:extLst>
          </p:cNvPr>
          <p:cNvSpPr txBox="1"/>
          <p:nvPr/>
        </p:nvSpPr>
        <p:spPr>
          <a:xfrm>
            <a:off x="723900" y="399466"/>
            <a:ext cx="10744200" cy="2800767"/>
          </a:xfrm>
          <a:prstGeom prst="rect">
            <a:avLst/>
          </a:prstGeom>
          <a:noFill/>
        </p:spPr>
        <p:txBody>
          <a:bodyPr wrap="square" rtlCol="0">
            <a:spAutoFit/>
          </a:bodyPr>
          <a:lstStyle/>
          <a:p>
            <a:pPr algn="ctr"/>
            <a:r>
              <a:rPr lang="en-IN" sz="3200" b="1" dirty="0">
                <a:latin typeface="Dutch801 Rm BT" panose="02020603060505020304" pitchFamily="18" charset="0"/>
              </a:rPr>
              <a:t>Sales Dashboard</a:t>
            </a:r>
          </a:p>
          <a:p>
            <a:pPr algn="ctr"/>
            <a:r>
              <a:rPr lang="en-IN" b="1" dirty="0">
                <a:latin typeface="Dutch801 Rm BT" panose="02020603060505020304" pitchFamily="18" charset="0"/>
              </a:rPr>
              <a:t>Summary and Explanation</a:t>
            </a:r>
          </a:p>
          <a:p>
            <a:endParaRPr lang="en-IN" dirty="0">
              <a:latin typeface="Dutch801 Rm BT" panose="02020603060505020304" pitchFamily="18" charset="0"/>
            </a:endParaRPr>
          </a:p>
          <a:p>
            <a:r>
              <a:rPr lang="en-IN" dirty="0">
                <a:latin typeface="Dutch801 Rm BT" panose="02020603060505020304" pitchFamily="18" charset="0"/>
              </a:rPr>
              <a:t>This Sales Dashboard provides an overview of the company's sales performance, profit, quantity sold, payment methods, product performance, and sales categories. It helps management understand business performance and identify opportunities to increase revenue and profitability.</a:t>
            </a:r>
          </a:p>
          <a:p>
            <a:endParaRPr lang="en-IN" dirty="0"/>
          </a:p>
          <a:p>
            <a:endParaRPr lang="en-IN" dirty="0"/>
          </a:p>
          <a:p>
            <a:endParaRPr lang="en-IN" dirty="0"/>
          </a:p>
        </p:txBody>
      </p:sp>
      <p:pic>
        <p:nvPicPr>
          <p:cNvPr id="5" name="Picture 4">
            <a:extLst>
              <a:ext uri="{FF2B5EF4-FFF2-40B4-BE49-F238E27FC236}">
                <a16:creationId xmlns:a16="http://schemas.microsoft.com/office/drawing/2014/main" id="{D8917E57-D694-F484-0586-A246BE4F9C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7291" y="2462647"/>
            <a:ext cx="8437418" cy="4182924"/>
          </a:xfrm>
          <a:prstGeom prst="rect">
            <a:avLst/>
          </a:prstGeom>
        </p:spPr>
      </p:pic>
    </p:spTree>
    <p:extLst>
      <p:ext uri="{BB962C8B-B14F-4D97-AF65-F5344CB8AC3E}">
        <p14:creationId xmlns:p14="http://schemas.microsoft.com/office/powerpoint/2010/main" val="2526082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EBD10-73CF-3943-6242-220E4B5AA158}"/>
              </a:ext>
            </a:extLst>
          </p:cNvPr>
          <p:cNvSpPr>
            <a:spLocks noGrp="1"/>
          </p:cNvSpPr>
          <p:nvPr>
            <p:ph type="title"/>
          </p:nvPr>
        </p:nvSpPr>
        <p:spPr>
          <a:xfrm>
            <a:off x="839788" y="457200"/>
            <a:ext cx="3932237" cy="1267691"/>
          </a:xfrm>
        </p:spPr>
        <p:txBody>
          <a:bodyPr>
            <a:normAutofit fontScale="90000"/>
          </a:bodyPr>
          <a:lstStyle/>
          <a:p>
            <a:r>
              <a:rPr lang="en-IN" b="1" dirty="0">
                <a:latin typeface="Dutch801 Rm BT" panose="02020603060505020304" pitchFamily="18" charset="0"/>
              </a:rPr>
              <a:t>1. Key Performance Indicators (KPIs)</a:t>
            </a:r>
            <a:br>
              <a:rPr lang="en-IN" b="1" dirty="0"/>
            </a:br>
            <a:endParaRPr lang="en-IN" dirty="0"/>
          </a:p>
        </p:txBody>
      </p:sp>
      <p:pic>
        <p:nvPicPr>
          <p:cNvPr id="6" name="Content Placeholder 5">
            <a:extLst>
              <a:ext uri="{FF2B5EF4-FFF2-40B4-BE49-F238E27FC236}">
                <a16:creationId xmlns:a16="http://schemas.microsoft.com/office/drawing/2014/main" id="{AE95A229-32CC-7EFE-14FC-11FA48DFD6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93466" y="1286648"/>
            <a:ext cx="6058746" cy="1324160"/>
          </a:xfrm>
          <a:prstGeom prst="rect">
            <a:avLst/>
          </a:prstGeom>
        </p:spPr>
      </p:pic>
      <p:sp>
        <p:nvSpPr>
          <p:cNvPr id="4" name="Text Placeholder 3">
            <a:extLst>
              <a:ext uri="{FF2B5EF4-FFF2-40B4-BE49-F238E27FC236}">
                <a16:creationId xmlns:a16="http://schemas.microsoft.com/office/drawing/2014/main" id="{8F51360E-6320-0C22-4ED4-75BE35757F84}"/>
              </a:ext>
            </a:extLst>
          </p:cNvPr>
          <p:cNvSpPr>
            <a:spLocks noGrp="1"/>
          </p:cNvSpPr>
          <p:nvPr>
            <p:ph type="body" sz="half" idx="2"/>
          </p:nvPr>
        </p:nvSpPr>
        <p:spPr/>
        <p:txBody>
          <a:bodyPr>
            <a:normAutofit fontScale="77500" lnSpcReduction="20000"/>
          </a:bodyPr>
          <a:lstStyle/>
          <a:p>
            <a:pPr marL="285750" indent="-285750">
              <a:buFont typeface="Arial" panose="020B0604020202020204" pitchFamily="34" charset="0"/>
              <a:buChar char="•"/>
            </a:pPr>
            <a:r>
              <a:rPr lang="en-IN" b="1" dirty="0">
                <a:latin typeface="Dutch801 Rm BT" panose="02020603060505020304" pitchFamily="18" charset="0"/>
              </a:rPr>
              <a:t>Total Sales</a:t>
            </a:r>
          </a:p>
          <a:p>
            <a:r>
              <a:rPr lang="en-IN" b="1" dirty="0">
                <a:latin typeface="Dutch801 Rm BT" panose="02020603060505020304" pitchFamily="18" charset="0"/>
              </a:rPr>
              <a:t>            303.74K</a:t>
            </a:r>
          </a:p>
          <a:p>
            <a:r>
              <a:rPr lang="en-IN" dirty="0">
                <a:latin typeface="Dutch801 Rm BT" panose="02020603060505020304" pitchFamily="18" charset="0"/>
              </a:rPr>
              <a:t>            Total sales value generated.</a:t>
            </a:r>
          </a:p>
          <a:p>
            <a:pPr marL="285750" indent="-285750">
              <a:buFont typeface="Arial" panose="020B0604020202020204" pitchFamily="34" charset="0"/>
              <a:buChar char="•"/>
            </a:pPr>
            <a:r>
              <a:rPr lang="en-IN" b="1" dirty="0">
                <a:latin typeface="Dutch801 Rm BT" panose="02020603060505020304" pitchFamily="18" charset="0"/>
              </a:rPr>
              <a:t>Quantity Sold</a:t>
            </a:r>
          </a:p>
          <a:p>
            <a:r>
              <a:rPr lang="en-IN" b="1" dirty="0">
                <a:latin typeface="Dutch801 Rm BT" panose="02020603060505020304" pitchFamily="18" charset="0"/>
              </a:rPr>
              <a:t>            132</a:t>
            </a:r>
          </a:p>
          <a:p>
            <a:r>
              <a:rPr lang="en-IN" dirty="0">
                <a:latin typeface="Dutch801 Rm BT" panose="02020603060505020304" pitchFamily="18" charset="0"/>
              </a:rPr>
              <a:t>            Total quantity sold during the selected    period.</a:t>
            </a:r>
          </a:p>
          <a:p>
            <a:pPr marL="285750" indent="-285750">
              <a:buFont typeface="Arial" panose="020B0604020202020204" pitchFamily="34" charset="0"/>
              <a:buChar char="•"/>
            </a:pPr>
            <a:r>
              <a:rPr lang="en-IN" b="1" dirty="0">
                <a:latin typeface="Dutch801 Rm BT" panose="02020603060505020304" pitchFamily="18" charset="0"/>
              </a:rPr>
              <a:t>Total Profit</a:t>
            </a:r>
          </a:p>
          <a:p>
            <a:r>
              <a:rPr lang="en-IN" b="1" dirty="0">
                <a:latin typeface="Dutch801 Rm BT" panose="02020603060505020304" pitchFamily="18" charset="0"/>
              </a:rPr>
              <a:t>            29K</a:t>
            </a:r>
          </a:p>
          <a:p>
            <a:r>
              <a:rPr lang="en-IN" dirty="0">
                <a:latin typeface="Dutch801 Rm BT" panose="02020603060505020304" pitchFamily="18" charset="0"/>
              </a:rPr>
              <a:t>            Profit earned from sales.</a:t>
            </a:r>
          </a:p>
          <a:p>
            <a:pPr marL="285750" indent="-285750">
              <a:buFont typeface="Arial" panose="020B0604020202020204" pitchFamily="34" charset="0"/>
              <a:buChar char="•"/>
            </a:pPr>
            <a:r>
              <a:rPr lang="en-IN" b="1" dirty="0">
                <a:latin typeface="Dutch801 Rm BT" panose="02020603060505020304" pitchFamily="18" charset="0"/>
              </a:rPr>
              <a:t>Profit Margin</a:t>
            </a:r>
          </a:p>
          <a:p>
            <a:r>
              <a:rPr lang="en-IN" b="1" dirty="0">
                <a:latin typeface="Dutch801 Rm BT" panose="02020603060505020304" pitchFamily="18" charset="0"/>
              </a:rPr>
              <a:t>           9%</a:t>
            </a:r>
          </a:p>
          <a:p>
            <a:r>
              <a:rPr lang="en-IN" dirty="0">
                <a:latin typeface="Dutch801 Rm BT" panose="02020603060505020304" pitchFamily="18" charset="0"/>
              </a:rPr>
              <a:t>          Reported profit percentage on the dashboard</a:t>
            </a:r>
          </a:p>
          <a:p>
            <a:endParaRPr lang="en-IN" dirty="0"/>
          </a:p>
        </p:txBody>
      </p:sp>
      <p:pic>
        <p:nvPicPr>
          <p:cNvPr id="8" name="Picture 7">
            <a:extLst>
              <a:ext uri="{FF2B5EF4-FFF2-40B4-BE49-F238E27FC236}">
                <a16:creationId xmlns:a16="http://schemas.microsoft.com/office/drawing/2014/main" id="{35A0B3AF-4FD3-AAA0-0A31-09A9B63E4A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3466" y="3822893"/>
            <a:ext cx="6096851" cy="1352739"/>
          </a:xfrm>
          <a:prstGeom prst="rect">
            <a:avLst/>
          </a:prstGeom>
        </p:spPr>
      </p:pic>
    </p:spTree>
    <p:extLst>
      <p:ext uri="{BB962C8B-B14F-4D97-AF65-F5344CB8AC3E}">
        <p14:creationId xmlns:p14="http://schemas.microsoft.com/office/powerpoint/2010/main" val="3299348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53B1A-3FE0-8236-EB06-76F998A1740E}"/>
              </a:ext>
            </a:extLst>
          </p:cNvPr>
          <p:cNvSpPr>
            <a:spLocks noGrp="1"/>
          </p:cNvSpPr>
          <p:nvPr>
            <p:ph type="title"/>
          </p:nvPr>
        </p:nvSpPr>
        <p:spPr/>
        <p:txBody>
          <a:bodyPr>
            <a:normAutofit fontScale="90000"/>
          </a:bodyPr>
          <a:lstStyle/>
          <a:p>
            <a:r>
              <a:rPr lang="en-IN" b="1" dirty="0">
                <a:latin typeface="Dutch801 Rm BT" panose="02020603060505020304" pitchFamily="18" charset="0"/>
              </a:rPr>
              <a:t>Sales and Profit by Month</a:t>
            </a:r>
            <a:br>
              <a:rPr lang="en-IN" b="1" dirty="0"/>
            </a:br>
            <a:endParaRPr lang="en-IN" dirty="0"/>
          </a:p>
        </p:txBody>
      </p:sp>
      <p:sp>
        <p:nvSpPr>
          <p:cNvPr id="3" name="Picture Placeholder 2">
            <a:extLst>
              <a:ext uri="{FF2B5EF4-FFF2-40B4-BE49-F238E27FC236}">
                <a16:creationId xmlns:a16="http://schemas.microsoft.com/office/drawing/2014/main" id="{394CD030-6589-4A59-8043-C3EC1D1EA88B}"/>
              </a:ext>
            </a:extLst>
          </p:cNvPr>
          <p:cNvSpPr>
            <a:spLocks noGrp="1" noChangeAspect="1"/>
          </p:cNvSpPr>
          <p:nvPr>
            <p:ph type="pic" idx="1"/>
          </p:nvPr>
        </p:nvSpPr>
        <p:spPr/>
        <p:txBody>
          <a:bodyPr/>
          <a:lstStyle/>
          <a:p>
            <a:endParaRPr lang="en-IN"/>
          </a:p>
        </p:txBody>
      </p:sp>
      <p:sp>
        <p:nvSpPr>
          <p:cNvPr id="4" name="Text Placeholder 3">
            <a:extLst>
              <a:ext uri="{FF2B5EF4-FFF2-40B4-BE49-F238E27FC236}">
                <a16:creationId xmlns:a16="http://schemas.microsoft.com/office/drawing/2014/main" id="{A6235DF9-DCBC-B447-78F0-1A8ABE0914BE}"/>
              </a:ext>
            </a:extLst>
          </p:cNvPr>
          <p:cNvSpPr>
            <a:spLocks noGrp="1"/>
          </p:cNvSpPr>
          <p:nvPr>
            <p:ph type="body" sz="half" idx="2"/>
          </p:nvPr>
        </p:nvSpPr>
        <p:spPr/>
        <p:txBody>
          <a:bodyPr>
            <a:normAutofit fontScale="77500" lnSpcReduction="20000"/>
          </a:bodyPr>
          <a:lstStyle/>
          <a:p>
            <a:r>
              <a:rPr lang="en-IN" dirty="0">
                <a:latin typeface="Dutch801 Rm BT" panose="02020603060505020304" pitchFamily="18" charset="0"/>
              </a:rPr>
              <a:t>Chart: Sales &amp; Profit by Months</a:t>
            </a:r>
          </a:p>
          <a:p>
            <a:pPr marL="285750" lvl="0" indent="-285750">
              <a:buFont typeface="Arial" panose="020B0604020202020204" pitchFamily="34" charset="0"/>
              <a:buChar char="•"/>
            </a:pPr>
            <a:r>
              <a:rPr lang="en-IN" dirty="0">
                <a:latin typeface="Dutch801 Rm BT" panose="02020603060505020304" pitchFamily="18" charset="0"/>
              </a:rPr>
              <a:t>January has the highest displayed sales, at approximately 31K.</a:t>
            </a:r>
          </a:p>
          <a:p>
            <a:pPr marL="285750" lvl="0" indent="-285750">
              <a:buFont typeface="Arial" panose="020B0604020202020204" pitchFamily="34" charset="0"/>
              <a:buChar char="•"/>
            </a:pPr>
            <a:r>
              <a:rPr lang="en-IN" dirty="0">
                <a:latin typeface="Dutch801 Rm BT" panose="02020603060505020304" pitchFamily="18" charset="0"/>
              </a:rPr>
              <a:t>December follows with around 29K.</a:t>
            </a:r>
          </a:p>
          <a:p>
            <a:pPr marL="285750" lvl="0" indent="-285750">
              <a:buFont typeface="Arial" panose="020B0604020202020204" pitchFamily="34" charset="0"/>
              <a:buChar char="•"/>
            </a:pPr>
            <a:r>
              <a:rPr lang="en-IN" dirty="0">
                <a:latin typeface="Dutch801 Rm BT" panose="02020603060505020304" pitchFamily="18" charset="0"/>
              </a:rPr>
              <a:t>July, September, November, and August each show approximately 27K.</a:t>
            </a:r>
          </a:p>
          <a:p>
            <a:pPr marL="285750" lvl="0" indent="-285750">
              <a:buFont typeface="Arial" panose="020B0604020202020204" pitchFamily="34" charset="0"/>
              <a:buChar char="•"/>
            </a:pPr>
            <a:r>
              <a:rPr lang="en-IN" dirty="0">
                <a:latin typeface="Dutch801 Rm BT" panose="02020603060505020304" pitchFamily="18" charset="0"/>
              </a:rPr>
              <a:t>April has the lowest displayed monthly sales, at around 19K.</a:t>
            </a:r>
          </a:p>
          <a:p>
            <a:pPr lvl="0"/>
            <a:r>
              <a:rPr lang="en-IN" dirty="0">
                <a:latin typeface="Dutch801 Rm BT" panose="02020603060505020304" pitchFamily="18" charset="0"/>
              </a:rPr>
              <a:t>The chart suggests that sales generally decline from the higher-performing months toward April, although the months are not displayed in calendar order.</a:t>
            </a:r>
          </a:p>
          <a:p>
            <a:pPr marL="285750" indent="-285750">
              <a:buFont typeface="Arial" panose="020B0604020202020204" pitchFamily="34" charset="0"/>
              <a:buChar char="•"/>
            </a:pPr>
            <a:r>
              <a:rPr lang="en-IN" b="1" dirty="0">
                <a:latin typeface="Dutch801 Rm BT" panose="02020603060505020304" pitchFamily="18" charset="0"/>
              </a:rPr>
              <a:t>Insight</a:t>
            </a:r>
            <a:r>
              <a:rPr lang="en-IN" dirty="0">
                <a:latin typeface="Dutch801 Rm BT" panose="02020603060505020304" pitchFamily="18" charset="0"/>
              </a:rPr>
              <a:t>: January is the strongest month by sales, while April may require additional marketing, promotions, or a review of product demand.</a:t>
            </a:r>
          </a:p>
          <a:p>
            <a:endParaRPr lang="en-IN" dirty="0"/>
          </a:p>
        </p:txBody>
      </p:sp>
      <p:pic>
        <p:nvPicPr>
          <p:cNvPr id="6" name="Picture 5">
            <a:extLst>
              <a:ext uri="{FF2B5EF4-FFF2-40B4-BE49-F238E27FC236}">
                <a16:creationId xmlns:a16="http://schemas.microsoft.com/office/drawing/2014/main" id="{7E63C0C5-3CC6-5CDD-2A0E-A5415C993C0C}"/>
              </a:ext>
            </a:extLst>
          </p:cNvPr>
          <p:cNvPicPr>
            <a:picLocks noChangeAspect="1"/>
          </p:cNvPicPr>
          <p:nvPr/>
        </p:nvPicPr>
        <p:blipFill>
          <a:blip r:embed="rId2"/>
          <a:stretch>
            <a:fillRect/>
          </a:stretch>
        </p:blipFill>
        <p:spPr>
          <a:xfrm>
            <a:off x="5758833" y="1620982"/>
            <a:ext cx="4964585" cy="3345873"/>
          </a:xfrm>
          <a:prstGeom prst="rect">
            <a:avLst/>
          </a:prstGeom>
        </p:spPr>
      </p:pic>
    </p:spTree>
    <p:extLst>
      <p:ext uri="{BB962C8B-B14F-4D97-AF65-F5344CB8AC3E}">
        <p14:creationId xmlns:p14="http://schemas.microsoft.com/office/powerpoint/2010/main" val="3761945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E7C24-A725-747F-288E-C4110B64604A}"/>
              </a:ext>
            </a:extLst>
          </p:cNvPr>
          <p:cNvSpPr>
            <a:spLocks noGrp="1"/>
          </p:cNvSpPr>
          <p:nvPr>
            <p:ph type="title"/>
          </p:nvPr>
        </p:nvSpPr>
        <p:spPr/>
        <p:txBody>
          <a:bodyPr>
            <a:normAutofit/>
          </a:bodyPr>
          <a:lstStyle/>
          <a:p>
            <a:r>
              <a:rPr lang="en-IN" b="1" dirty="0">
                <a:latin typeface="Dutch801 Rm BT" panose="02020603060505020304" pitchFamily="18" charset="0"/>
              </a:rPr>
              <a:t>3. Sales by Payment Mode</a:t>
            </a:r>
            <a:br>
              <a:rPr lang="en-IN" b="1" dirty="0"/>
            </a:br>
            <a:endParaRPr lang="en-IN" dirty="0"/>
          </a:p>
        </p:txBody>
      </p:sp>
      <p:pic>
        <p:nvPicPr>
          <p:cNvPr id="16" name="Picture Placeholder 15">
            <a:extLst>
              <a:ext uri="{FF2B5EF4-FFF2-40B4-BE49-F238E27FC236}">
                <a16:creationId xmlns:a16="http://schemas.microsoft.com/office/drawing/2014/main" id="{C4ADEF69-BE6E-D1E8-BF9F-70FDFB2B6BF7}"/>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4753" r="14753"/>
          <a:stretch>
            <a:fillRect/>
          </a:stretch>
        </p:blipFill>
        <p:spPr>
          <a:prstGeom prst="rect">
            <a:avLst/>
          </a:prstGeom>
        </p:spPr>
      </p:pic>
      <p:sp>
        <p:nvSpPr>
          <p:cNvPr id="4" name="Text Placeholder 3">
            <a:extLst>
              <a:ext uri="{FF2B5EF4-FFF2-40B4-BE49-F238E27FC236}">
                <a16:creationId xmlns:a16="http://schemas.microsoft.com/office/drawing/2014/main" id="{72994EC4-B5CA-05C9-426B-4BC6DCA35D36}"/>
              </a:ext>
            </a:extLst>
          </p:cNvPr>
          <p:cNvSpPr>
            <a:spLocks noGrp="1"/>
          </p:cNvSpPr>
          <p:nvPr>
            <p:ph type="body" sz="half" idx="2"/>
          </p:nvPr>
        </p:nvSpPr>
        <p:spPr/>
        <p:txBody>
          <a:bodyPr>
            <a:normAutofit/>
          </a:bodyPr>
          <a:lstStyle/>
          <a:p>
            <a:r>
              <a:rPr lang="en-IN" dirty="0">
                <a:latin typeface="Dutch801 Rm BT" panose="02020603060505020304" pitchFamily="18" charset="0"/>
              </a:rPr>
              <a:t>Online                          </a:t>
            </a:r>
            <a:r>
              <a:rPr lang="en-IN" b="1" dirty="0">
                <a:latin typeface="Dutch801 Rm BT" panose="02020603060505020304" pitchFamily="18" charset="0"/>
              </a:rPr>
              <a:t>154.32K</a:t>
            </a:r>
            <a:endParaRPr lang="en-IN" dirty="0">
              <a:latin typeface="Dutch801 Rm BT" panose="02020603060505020304" pitchFamily="18" charset="0"/>
            </a:endParaRPr>
          </a:p>
          <a:p>
            <a:r>
              <a:rPr lang="en-IN" dirty="0">
                <a:latin typeface="Dutch801 Rm BT" panose="02020603060505020304" pitchFamily="18" charset="0"/>
              </a:rPr>
              <a:t>50.81%                        Online sales</a:t>
            </a:r>
          </a:p>
          <a:p>
            <a:endParaRPr lang="en-IN" dirty="0">
              <a:latin typeface="Dutch801 Rm BT" panose="02020603060505020304" pitchFamily="18" charset="0"/>
            </a:endParaRPr>
          </a:p>
          <a:p>
            <a:r>
              <a:rPr lang="en-IN" dirty="0">
                <a:latin typeface="Dutch801 Rm BT" panose="02020603060505020304" pitchFamily="18" charset="0"/>
              </a:rPr>
              <a:t>Cash                </a:t>
            </a:r>
            <a:r>
              <a:rPr lang="en-IN" b="1" dirty="0">
                <a:latin typeface="Dutch801 Rm BT" panose="02020603060505020304" pitchFamily="18" charset="0"/>
              </a:rPr>
              <a:t>149.42K</a:t>
            </a:r>
            <a:r>
              <a:rPr lang="en-IN" dirty="0">
                <a:latin typeface="Dutch801 Rm BT" panose="02020603060505020304" pitchFamily="18" charset="0"/>
              </a:rPr>
              <a:t>   </a:t>
            </a:r>
          </a:p>
          <a:p>
            <a:r>
              <a:rPr lang="en-IN" dirty="0">
                <a:latin typeface="Dutch801 Rm BT" panose="02020603060505020304" pitchFamily="18" charset="0"/>
              </a:rPr>
              <a:t>49.19%            Cash sales</a:t>
            </a:r>
          </a:p>
          <a:p>
            <a:endParaRPr lang="en-IN" dirty="0">
              <a:latin typeface="Dutch801 Rm BT" panose="02020603060505020304" pitchFamily="18" charset="0"/>
            </a:endParaRPr>
          </a:p>
          <a:p>
            <a:pPr marL="285750" indent="-285750">
              <a:buFont typeface="Arial" panose="020B0604020202020204" pitchFamily="34" charset="0"/>
              <a:buChar char="•"/>
            </a:pPr>
            <a:r>
              <a:rPr lang="en-IN" b="1" dirty="0">
                <a:latin typeface="Dutch801 Rm BT" panose="02020603060505020304" pitchFamily="18" charset="0"/>
              </a:rPr>
              <a:t>Insight</a:t>
            </a:r>
            <a:r>
              <a:rPr lang="en-IN" dirty="0">
                <a:latin typeface="Dutch801 Rm BT" panose="02020603060505020304" pitchFamily="18" charset="0"/>
              </a:rPr>
              <a:t>: Online payments contribute slightly more sales than cash payments. The difference is small, indicating that both payment methods remain important to customers.</a:t>
            </a:r>
          </a:p>
          <a:p>
            <a:endParaRPr lang="en-IN" dirty="0">
              <a:latin typeface="Dutch801 Rm BT" panose="02020603060505020304" pitchFamily="18" charset="0"/>
            </a:endParaRPr>
          </a:p>
        </p:txBody>
      </p:sp>
    </p:spTree>
    <p:extLst>
      <p:ext uri="{BB962C8B-B14F-4D97-AF65-F5344CB8AC3E}">
        <p14:creationId xmlns:p14="http://schemas.microsoft.com/office/powerpoint/2010/main" val="3891315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922E5-0A9B-97EB-F5B7-CE58EF478E9D}"/>
              </a:ext>
            </a:extLst>
          </p:cNvPr>
          <p:cNvSpPr>
            <a:spLocks noGrp="1"/>
          </p:cNvSpPr>
          <p:nvPr>
            <p:ph type="title"/>
          </p:nvPr>
        </p:nvSpPr>
        <p:spPr>
          <a:xfrm>
            <a:off x="839788" y="436080"/>
            <a:ext cx="5448718" cy="501316"/>
          </a:xfrm>
        </p:spPr>
        <p:txBody>
          <a:bodyPr>
            <a:normAutofit fontScale="90000"/>
          </a:bodyPr>
          <a:lstStyle/>
          <a:p>
            <a:pPr algn="ctr"/>
            <a:r>
              <a:rPr lang="en-IN" dirty="0">
                <a:latin typeface="Dutch801 Rm BT" panose="02020603060505020304" pitchFamily="18" charset="0"/>
              </a:rPr>
              <a:t>Sales by Products</a:t>
            </a:r>
          </a:p>
        </p:txBody>
      </p:sp>
      <p:pic>
        <p:nvPicPr>
          <p:cNvPr id="9" name="Picture Placeholder 8">
            <a:extLst>
              <a:ext uri="{FF2B5EF4-FFF2-40B4-BE49-F238E27FC236}">
                <a16:creationId xmlns:a16="http://schemas.microsoft.com/office/drawing/2014/main" id="{C498C147-9B6C-2B7D-17D5-AF84BD78FECA}"/>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4753" r="14753"/>
          <a:stretch>
            <a:fillRect/>
          </a:stretch>
        </p:blipFill>
        <p:spPr>
          <a:prstGeom prst="rect">
            <a:avLst/>
          </a:prstGeom>
        </p:spPr>
      </p:pic>
      <p:graphicFrame>
        <p:nvGraphicFramePr>
          <p:cNvPr id="5" name="Table 4">
            <a:extLst>
              <a:ext uri="{FF2B5EF4-FFF2-40B4-BE49-F238E27FC236}">
                <a16:creationId xmlns:a16="http://schemas.microsoft.com/office/drawing/2014/main" id="{7231250D-4C95-DBE8-F9CF-3E19F4CA7820}"/>
              </a:ext>
            </a:extLst>
          </p:cNvPr>
          <p:cNvGraphicFramePr>
            <a:graphicFrameLocks noGrp="1"/>
          </p:cNvGraphicFramePr>
          <p:nvPr>
            <p:extLst>
              <p:ext uri="{D42A27DB-BD31-4B8C-83A1-F6EECF244321}">
                <p14:modId xmlns:p14="http://schemas.microsoft.com/office/powerpoint/2010/main" val="2590433427"/>
              </p:ext>
            </p:extLst>
          </p:nvPr>
        </p:nvGraphicFramePr>
        <p:xfrm>
          <a:off x="724318" y="3029043"/>
          <a:ext cx="5564188" cy="3371757"/>
        </p:xfrm>
        <a:graphic>
          <a:graphicData uri="http://schemas.openxmlformats.org/drawingml/2006/table">
            <a:tbl>
              <a:tblPr>
                <a:tableStyleId>{5C22544A-7EE6-4342-B048-85BDC9FD1C3A}</a:tableStyleId>
              </a:tblPr>
              <a:tblGrid>
                <a:gridCol w="4127948">
                  <a:extLst>
                    <a:ext uri="{9D8B030D-6E8A-4147-A177-3AD203B41FA5}">
                      <a16:colId xmlns:a16="http://schemas.microsoft.com/office/drawing/2014/main" val="3844718837"/>
                    </a:ext>
                  </a:extLst>
                </a:gridCol>
                <a:gridCol w="1436240">
                  <a:extLst>
                    <a:ext uri="{9D8B030D-6E8A-4147-A177-3AD203B41FA5}">
                      <a16:colId xmlns:a16="http://schemas.microsoft.com/office/drawing/2014/main" val="1881298050"/>
                    </a:ext>
                  </a:extLst>
                </a:gridCol>
              </a:tblGrid>
              <a:tr h="319653">
                <a:tc>
                  <a:txBody>
                    <a:bodyPr/>
                    <a:lstStyle/>
                    <a:p>
                      <a:pPr>
                        <a:buNone/>
                      </a:pPr>
                      <a:r>
                        <a:rPr lang="en-IN"/>
                        <a:t>Product</a:t>
                      </a:r>
                    </a:p>
                  </a:txBody>
                  <a:tcPr anchor="ctr"/>
                </a:tc>
                <a:tc>
                  <a:txBody>
                    <a:bodyPr/>
                    <a:lstStyle/>
                    <a:p>
                      <a:pPr>
                        <a:buNone/>
                      </a:pPr>
                      <a:r>
                        <a:rPr lang="en-IN"/>
                        <a:t>Sales</a:t>
                      </a:r>
                    </a:p>
                  </a:txBody>
                  <a:tcPr anchor="ctr"/>
                </a:tc>
                <a:extLst>
                  <a:ext uri="{0D108BD9-81ED-4DB2-BD59-A6C34878D82A}">
                    <a16:rowId xmlns:a16="http://schemas.microsoft.com/office/drawing/2014/main" val="4006927484"/>
                  </a:ext>
                </a:extLst>
              </a:tr>
              <a:tr h="319653">
                <a:tc>
                  <a:txBody>
                    <a:bodyPr/>
                    <a:lstStyle/>
                    <a:p>
                      <a:pPr>
                        <a:buNone/>
                      </a:pPr>
                      <a:r>
                        <a:rPr lang="en-IN"/>
                        <a:t>Plastic Mat</a:t>
                      </a:r>
                    </a:p>
                  </a:txBody>
                  <a:tcPr anchor="ctr"/>
                </a:tc>
                <a:tc>
                  <a:txBody>
                    <a:bodyPr/>
                    <a:lstStyle/>
                    <a:p>
                      <a:pPr>
                        <a:buNone/>
                      </a:pPr>
                      <a:r>
                        <a:rPr lang="en-IN"/>
                        <a:t>17K</a:t>
                      </a:r>
                    </a:p>
                  </a:txBody>
                  <a:tcPr anchor="ctr"/>
                </a:tc>
                <a:extLst>
                  <a:ext uri="{0D108BD9-81ED-4DB2-BD59-A6C34878D82A}">
                    <a16:rowId xmlns:a16="http://schemas.microsoft.com/office/drawing/2014/main" val="2946205312"/>
                  </a:ext>
                </a:extLst>
              </a:tr>
              <a:tr h="319653">
                <a:tc>
                  <a:txBody>
                    <a:bodyPr/>
                    <a:lstStyle/>
                    <a:p>
                      <a:pPr>
                        <a:buNone/>
                      </a:pPr>
                      <a:r>
                        <a:rPr lang="en-IN" dirty="0"/>
                        <a:t>Carpet Roll</a:t>
                      </a:r>
                    </a:p>
                  </a:txBody>
                  <a:tcPr anchor="ctr"/>
                </a:tc>
                <a:tc>
                  <a:txBody>
                    <a:bodyPr/>
                    <a:lstStyle/>
                    <a:p>
                      <a:pPr>
                        <a:buNone/>
                      </a:pPr>
                      <a:r>
                        <a:rPr lang="en-IN"/>
                        <a:t>15K</a:t>
                      </a:r>
                    </a:p>
                  </a:txBody>
                  <a:tcPr anchor="ctr"/>
                </a:tc>
                <a:extLst>
                  <a:ext uri="{0D108BD9-81ED-4DB2-BD59-A6C34878D82A}">
                    <a16:rowId xmlns:a16="http://schemas.microsoft.com/office/drawing/2014/main" val="1764395397"/>
                  </a:ext>
                </a:extLst>
              </a:tr>
              <a:tr h="445677">
                <a:tc>
                  <a:txBody>
                    <a:bodyPr/>
                    <a:lstStyle/>
                    <a:p>
                      <a:pPr>
                        <a:buNone/>
                      </a:pPr>
                      <a:r>
                        <a:rPr lang="en-IN"/>
                        <a:t>Turmeric Powder (label truncated)</a:t>
                      </a:r>
                    </a:p>
                  </a:txBody>
                  <a:tcPr anchor="ctr"/>
                </a:tc>
                <a:tc>
                  <a:txBody>
                    <a:bodyPr/>
                    <a:lstStyle/>
                    <a:p>
                      <a:pPr>
                        <a:buNone/>
                      </a:pPr>
                      <a:r>
                        <a:rPr lang="en-IN" dirty="0"/>
                        <a:t>14K</a:t>
                      </a:r>
                    </a:p>
                  </a:txBody>
                  <a:tcPr anchor="ctr"/>
                </a:tc>
                <a:extLst>
                  <a:ext uri="{0D108BD9-81ED-4DB2-BD59-A6C34878D82A}">
                    <a16:rowId xmlns:a16="http://schemas.microsoft.com/office/drawing/2014/main" val="236577965"/>
                  </a:ext>
                </a:extLst>
              </a:tr>
              <a:tr h="319653">
                <a:tc>
                  <a:txBody>
                    <a:bodyPr/>
                    <a:lstStyle/>
                    <a:p>
                      <a:pPr>
                        <a:buNone/>
                      </a:pPr>
                      <a:r>
                        <a:rPr lang="en-IN"/>
                        <a:t>Cotton Fabric</a:t>
                      </a:r>
                    </a:p>
                  </a:txBody>
                  <a:tcPr anchor="ctr"/>
                </a:tc>
                <a:tc>
                  <a:txBody>
                    <a:bodyPr/>
                    <a:lstStyle/>
                    <a:p>
                      <a:pPr>
                        <a:buNone/>
                      </a:pPr>
                      <a:r>
                        <a:rPr lang="en-IN"/>
                        <a:t>14K</a:t>
                      </a:r>
                    </a:p>
                  </a:txBody>
                  <a:tcPr anchor="ctr"/>
                </a:tc>
                <a:extLst>
                  <a:ext uri="{0D108BD9-81ED-4DB2-BD59-A6C34878D82A}">
                    <a16:rowId xmlns:a16="http://schemas.microsoft.com/office/drawing/2014/main" val="2418284943"/>
                  </a:ext>
                </a:extLst>
              </a:tr>
              <a:tr h="319653">
                <a:tc>
                  <a:txBody>
                    <a:bodyPr/>
                    <a:lstStyle/>
                    <a:p>
                      <a:pPr>
                        <a:buNone/>
                      </a:pPr>
                      <a:r>
                        <a:rPr lang="en-IN"/>
                        <a:t>Rubber Mat</a:t>
                      </a:r>
                    </a:p>
                  </a:txBody>
                  <a:tcPr anchor="ctr"/>
                </a:tc>
                <a:tc>
                  <a:txBody>
                    <a:bodyPr/>
                    <a:lstStyle/>
                    <a:p>
                      <a:pPr>
                        <a:buNone/>
                      </a:pPr>
                      <a:r>
                        <a:rPr lang="en-IN"/>
                        <a:t>14K</a:t>
                      </a:r>
                    </a:p>
                  </a:txBody>
                  <a:tcPr anchor="ctr"/>
                </a:tc>
                <a:extLst>
                  <a:ext uri="{0D108BD9-81ED-4DB2-BD59-A6C34878D82A}">
                    <a16:rowId xmlns:a16="http://schemas.microsoft.com/office/drawing/2014/main" val="2428930999"/>
                  </a:ext>
                </a:extLst>
              </a:tr>
              <a:tr h="319653">
                <a:tc>
                  <a:txBody>
                    <a:bodyPr/>
                    <a:lstStyle/>
                    <a:p>
                      <a:pPr>
                        <a:buNone/>
                      </a:pPr>
                      <a:r>
                        <a:rPr lang="en-IN"/>
                        <a:t>Silk Fabric</a:t>
                      </a:r>
                    </a:p>
                  </a:txBody>
                  <a:tcPr anchor="ctr"/>
                </a:tc>
                <a:tc>
                  <a:txBody>
                    <a:bodyPr/>
                    <a:lstStyle/>
                    <a:p>
                      <a:pPr>
                        <a:buNone/>
                      </a:pPr>
                      <a:r>
                        <a:rPr lang="en-IN"/>
                        <a:t>13K</a:t>
                      </a:r>
                    </a:p>
                  </a:txBody>
                  <a:tcPr anchor="ctr"/>
                </a:tc>
                <a:extLst>
                  <a:ext uri="{0D108BD9-81ED-4DB2-BD59-A6C34878D82A}">
                    <a16:rowId xmlns:a16="http://schemas.microsoft.com/office/drawing/2014/main" val="409086735"/>
                  </a:ext>
                </a:extLst>
              </a:tr>
              <a:tr h="319653">
                <a:tc>
                  <a:txBody>
                    <a:bodyPr/>
                    <a:lstStyle/>
                    <a:p>
                      <a:pPr>
                        <a:buNone/>
                      </a:pPr>
                      <a:r>
                        <a:rPr lang="en-IN"/>
                        <a:t>Sugar</a:t>
                      </a:r>
                    </a:p>
                  </a:txBody>
                  <a:tcPr anchor="ctr"/>
                </a:tc>
                <a:tc>
                  <a:txBody>
                    <a:bodyPr/>
                    <a:lstStyle/>
                    <a:p>
                      <a:pPr>
                        <a:buNone/>
                      </a:pPr>
                      <a:r>
                        <a:rPr lang="en-IN"/>
                        <a:t>12K</a:t>
                      </a:r>
                    </a:p>
                  </a:txBody>
                  <a:tcPr anchor="ctr"/>
                </a:tc>
                <a:extLst>
                  <a:ext uri="{0D108BD9-81ED-4DB2-BD59-A6C34878D82A}">
                    <a16:rowId xmlns:a16="http://schemas.microsoft.com/office/drawing/2014/main" val="4129570603"/>
                  </a:ext>
                </a:extLst>
              </a:tr>
              <a:tr h="319653">
                <a:tc>
                  <a:txBody>
                    <a:bodyPr/>
                    <a:lstStyle/>
                    <a:p>
                      <a:pPr>
                        <a:buNone/>
                      </a:pPr>
                      <a:r>
                        <a:rPr lang="en-IN"/>
                        <a:t>Groundnut Oil</a:t>
                      </a:r>
                    </a:p>
                  </a:txBody>
                  <a:tcPr anchor="ctr"/>
                </a:tc>
                <a:tc>
                  <a:txBody>
                    <a:bodyPr/>
                    <a:lstStyle/>
                    <a:p>
                      <a:pPr>
                        <a:buNone/>
                      </a:pPr>
                      <a:r>
                        <a:rPr lang="en-IN" dirty="0"/>
                        <a:t>11K</a:t>
                      </a:r>
                    </a:p>
                  </a:txBody>
                  <a:tcPr anchor="ctr"/>
                </a:tc>
                <a:extLst>
                  <a:ext uri="{0D108BD9-81ED-4DB2-BD59-A6C34878D82A}">
                    <a16:rowId xmlns:a16="http://schemas.microsoft.com/office/drawing/2014/main" val="3404902142"/>
                  </a:ext>
                </a:extLst>
              </a:tr>
            </a:tbl>
          </a:graphicData>
        </a:graphic>
      </p:graphicFrame>
      <p:sp>
        <p:nvSpPr>
          <p:cNvPr id="7" name="TextBox 6">
            <a:extLst>
              <a:ext uri="{FF2B5EF4-FFF2-40B4-BE49-F238E27FC236}">
                <a16:creationId xmlns:a16="http://schemas.microsoft.com/office/drawing/2014/main" id="{59CD0F66-0313-5456-AB0A-CB93362AB6E1}"/>
              </a:ext>
            </a:extLst>
          </p:cNvPr>
          <p:cNvSpPr txBox="1"/>
          <p:nvPr/>
        </p:nvSpPr>
        <p:spPr>
          <a:xfrm>
            <a:off x="724318" y="1274717"/>
            <a:ext cx="6096000" cy="1708160"/>
          </a:xfrm>
          <a:prstGeom prst="rect">
            <a:avLst/>
          </a:prstGeom>
          <a:noFill/>
        </p:spPr>
        <p:txBody>
          <a:bodyPr wrap="square">
            <a:spAutoFit/>
          </a:bodyPr>
          <a:lstStyle/>
          <a:p>
            <a:pPr>
              <a:buNone/>
            </a:pPr>
            <a:r>
              <a:rPr lang="en-IN" sz="1500" dirty="0">
                <a:latin typeface="Dutch801 Rm BT" panose="02020603060505020304" pitchFamily="18" charset="0"/>
              </a:rPr>
              <a:t>The horizontal bar chart shows the best-performing products by sales value.</a:t>
            </a:r>
          </a:p>
          <a:p>
            <a:pPr>
              <a:buNone/>
            </a:pPr>
            <a:endParaRPr lang="en-IN" sz="1500" dirty="0">
              <a:latin typeface="Dutch801 Rm BT" panose="02020603060505020304" pitchFamily="18" charset="0"/>
            </a:endParaRPr>
          </a:p>
          <a:p>
            <a:pPr marL="285750" indent="-285750">
              <a:buFont typeface="Arial" panose="020B0604020202020204" pitchFamily="34" charset="0"/>
              <a:buChar char="•"/>
            </a:pPr>
            <a:r>
              <a:rPr lang="en-IN" sz="1500" dirty="0">
                <a:latin typeface="Dutch801 Rm BT" panose="02020603060505020304" pitchFamily="18" charset="0"/>
              </a:rPr>
              <a:t>Insight: Plastic Mat is the leading product, followed by Carpet Roll. These products could be prioritized for inventory planning and promotional campaigns. Groundnut Oil has the lowest sales among the products displayed.</a:t>
            </a:r>
          </a:p>
        </p:txBody>
      </p:sp>
    </p:spTree>
    <p:extLst>
      <p:ext uri="{BB962C8B-B14F-4D97-AF65-F5344CB8AC3E}">
        <p14:creationId xmlns:p14="http://schemas.microsoft.com/office/powerpoint/2010/main" val="3390631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9D1C6-9C4C-3E5E-5E0D-4551D9CDD8E9}"/>
              </a:ext>
            </a:extLst>
          </p:cNvPr>
          <p:cNvSpPr>
            <a:spLocks noGrp="1"/>
          </p:cNvSpPr>
          <p:nvPr>
            <p:ph type="title"/>
          </p:nvPr>
        </p:nvSpPr>
        <p:spPr>
          <a:xfrm>
            <a:off x="839788" y="987425"/>
            <a:ext cx="3932237" cy="549442"/>
          </a:xfrm>
        </p:spPr>
        <p:txBody>
          <a:bodyPr>
            <a:normAutofit fontScale="90000"/>
          </a:bodyPr>
          <a:lstStyle/>
          <a:p>
            <a:r>
              <a:rPr lang="en-IN" b="1" dirty="0">
                <a:latin typeface="Dutch801 Rm BT" panose="02020603060505020304" pitchFamily="18" charset="0"/>
              </a:rPr>
              <a:t>Daily Sales Analysis</a:t>
            </a:r>
          </a:p>
        </p:txBody>
      </p:sp>
      <p:pic>
        <p:nvPicPr>
          <p:cNvPr id="6" name="Picture Placeholder 5">
            <a:extLst>
              <a:ext uri="{FF2B5EF4-FFF2-40B4-BE49-F238E27FC236}">
                <a16:creationId xmlns:a16="http://schemas.microsoft.com/office/drawing/2014/main" id="{1DC8E9F8-990F-DA83-C5C6-721FE6FAACAA}"/>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4753" r="14753"/>
          <a:stretch>
            <a:fillRect/>
          </a:stretch>
        </p:blipFill>
        <p:spPr>
          <a:prstGeom prst="rect">
            <a:avLst/>
          </a:prstGeom>
        </p:spPr>
      </p:pic>
      <p:sp>
        <p:nvSpPr>
          <p:cNvPr id="4" name="Text Placeholder 3">
            <a:extLst>
              <a:ext uri="{FF2B5EF4-FFF2-40B4-BE49-F238E27FC236}">
                <a16:creationId xmlns:a16="http://schemas.microsoft.com/office/drawing/2014/main" id="{DB1EE00A-AFD1-46E5-B087-591FD3318AB8}"/>
              </a:ext>
            </a:extLst>
          </p:cNvPr>
          <p:cNvSpPr>
            <a:spLocks noGrp="1"/>
          </p:cNvSpPr>
          <p:nvPr>
            <p:ph type="body" sz="half" idx="2"/>
          </p:nvPr>
        </p:nvSpPr>
        <p:spPr/>
        <p:txBody>
          <a:bodyPr>
            <a:normAutofit fontScale="85000" lnSpcReduction="20000"/>
          </a:bodyPr>
          <a:lstStyle/>
          <a:p>
            <a:r>
              <a:rPr lang="en-IN" dirty="0">
                <a:latin typeface="Dutch801 Rm BT" panose="02020603060505020304" pitchFamily="18" charset="0"/>
              </a:rPr>
              <a:t>The daily sales chart shows changes in sales across the days of the selected period.</a:t>
            </a:r>
          </a:p>
          <a:p>
            <a:pPr marL="285750" lvl="0" indent="-285750">
              <a:buFont typeface="Arial" panose="020B0604020202020204" pitchFamily="34" charset="0"/>
              <a:buChar char="•"/>
            </a:pPr>
            <a:r>
              <a:rPr lang="en-IN" dirty="0">
                <a:latin typeface="Dutch801 Rm BT" panose="02020603060505020304" pitchFamily="18" charset="0"/>
              </a:rPr>
              <a:t>The highest </a:t>
            </a:r>
            <a:r>
              <a:rPr lang="en-IN" dirty="0" err="1">
                <a:latin typeface="Dutch801 Rm BT" panose="02020603060505020304" pitchFamily="18" charset="0"/>
              </a:rPr>
              <a:t>labeled</a:t>
            </a:r>
            <a:r>
              <a:rPr lang="en-IN" dirty="0">
                <a:latin typeface="Dutch801 Rm BT" panose="02020603060505020304" pitchFamily="18" charset="0"/>
              </a:rPr>
              <a:t> daily sales value is approximately 15.5K, around day 20.</a:t>
            </a:r>
          </a:p>
          <a:p>
            <a:pPr marL="285750" lvl="0" indent="-285750">
              <a:buFont typeface="Arial" panose="020B0604020202020204" pitchFamily="34" charset="0"/>
              <a:buChar char="•"/>
            </a:pPr>
            <a:r>
              <a:rPr lang="en-IN" dirty="0">
                <a:latin typeface="Dutch801 Rm BT" panose="02020603060505020304" pitchFamily="18" charset="0"/>
              </a:rPr>
              <a:t>Other strong days include day 9, at around 12.8K, and day 30, at around 13.5K.</a:t>
            </a:r>
          </a:p>
          <a:p>
            <a:pPr marL="285750" lvl="0" indent="-285750">
              <a:buFont typeface="Arial" panose="020B0604020202020204" pitchFamily="34" charset="0"/>
              <a:buChar char="•"/>
            </a:pPr>
            <a:r>
              <a:rPr lang="en-IN" dirty="0">
                <a:latin typeface="Dutch801 Rm BT" panose="02020603060505020304" pitchFamily="18" charset="0"/>
              </a:rPr>
              <a:t>The lowest </a:t>
            </a:r>
            <a:r>
              <a:rPr lang="en-IN" dirty="0" err="1">
                <a:latin typeface="Dutch801 Rm BT" panose="02020603060505020304" pitchFamily="18" charset="0"/>
              </a:rPr>
              <a:t>labeled</a:t>
            </a:r>
            <a:r>
              <a:rPr lang="en-IN" dirty="0">
                <a:latin typeface="Dutch801 Rm BT" panose="02020603060505020304" pitchFamily="18" charset="0"/>
              </a:rPr>
              <a:t> value is approximately 2.9K, around day 17.</a:t>
            </a:r>
          </a:p>
          <a:p>
            <a:pPr lvl="0"/>
            <a:r>
              <a:rPr lang="en-IN" dirty="0">
                <a:latin typeface="Dutch801 Rm BT" panose="02020603060505020304" pitchFamily="18" charset="0"/>
              </a:rPr>
              <a:t>Sales fluctuate significantly, with noticeable peaks and drops throughout the period.</a:t>
            </a:r>
          </a:p>
          <a:p>
            <a:r>
              <a:rPr lang="en-IN" b="1" dirty="0">
                <a:latin typeface="Dutch801 Rm BT" panose="02020603060505020304" pitchFamily="18" charset="0"/>
              </a:rPr>
              <a:t>Insight</a:t>
            </a:r>
            <a:r>
              <a:rPr lang="en-IN" dirty="0">
                <a:latin typeface="Dutch801 Rm BT" panose="02020603060505020304" pitchFamily="18" charset="0"/>
              </a:rPr>
              <a:t>: Sales are not consistent every day. Identifying what happened on high-performing days—such as promotions, customer demand, or bulk orders—could help improve performance on weaker days</a:t>
            </a:r>
          </a:p>
          <a:p>
            <a:endParaRPr lang="en-IN" dirty="0">
              <a:latin typeface="Dutch801 Rm BT" panose="02020603060505020304" pitchFamily="18" charset="0"/>
            </a:endParaRPr>
          </a:p>
        </p:txBody>
      </p:sp>
    </p:spTree>
    <p:extLst>
      <p:ext uri="{BB962C8B-B14F-4D97-AF65-F5344CB8AC3E}">
        <p14:creationId xmlns:p14="http://schemas.microsoft.com/office/powerpoint/2010/main" val="3373545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99AAA-D456-5560-5B83-AA87C5138D02}"/>
              </a:ext>
            </a:extLst>
          </p:cNvPr>
          <p:cNvSpPr>
            <a:spLocks noGrp="1"/>
          </p:cNvSpPr>
          <p:nvPr>
            <p:ph type="title"/>
          </p:nvPr>
        </p:nvSpPr>
        <p:spPr>
          <a:xfrm>
            <a:off x="836612" y="987425"/>
            <a:ext cx="3932237" cy="713874"/>
          </a:xfrm>
        </p:spPr>
        <p:txBody>
          <a:bodyPr>
            <a:normAutofit fontScale="90000"/>
          </a:bodyPr>
          <a:lstStyle/>
          <a:p>
            <a:r>
              <a:rPr lang="en-IN" b="1" dirty="0">
                <a:latin typeface="Dutch801 Rm BT" panose="02020603060505020304" pitchFamily="18" charset="0"/>
              </a:rPr>
              <a:t>Sales by Category</a:t>
            </a:r>
          </a:p>
        </p:txBody>
      </p:sp>
      <p:pic>
        <p:nvPicPr>
          <p:cNvPr id="6" name="Picture Placeholder 5">
            <a:extLst>
              <a:ext uri="{FF2B5EF4-FFF2-40B4-BE49-F238E27FC236}">
                <a16:creationId xmlns:a16="http://schemas.microsoft.com/office/drawing/2014/main" id="{5312ADDE-AB1A-6D6D-34DF-52073AC19949}"/>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4753" r="14753"/>
          <a:stretch>
            <a:fillRect/>
          </a:stretch>
        </p:blipFill>
        <p:spPr>
          <a:prstGeom prst="rect">
            <a:avLst/>
          </a:prstGeom>
        </p:spPr>
      </p:pic>
      <p:sp>
        <p:nvSpPr>
          <p:cNvPr id="4" name="Text Placeholder 3">
            <a:extLst>
              <a:ext uri="{FF2B5EF4-FFF2-40B4-BE49-F238E27FC236}">
                <a16:creationId xmlns:a16="http://schemas.microsoft.com/office/drawing/2014/main" id="{6F7F60DF-861B-5040-6B96-78AF1E0E06FF}"/>
              </a:ext>
            </a:extLst>
          </p:cNvPr>
          <p:cNvSpPr>
            <a:spLocks noGrp="1"/>
          </p:cNvSpPr>
          <p:nvPr>
            <p:ph type="body" sz="half" idx="2"/>
          </p:nvPr>
        </p:nvSpPr>
        <p:spPr>
          <a:xfrm>
            <a:off x="839788" y="1844843"/>
            <a:ext cx="3932237" cy="4154904"/>
          </a:xfrm>
        </p:spPr>
        <p:txBody>
          <a:bodyPr>
            <a:normAutofit fontScale="85000" lnSpcReduction="20000"/>
          </a:bodyPr>
          <a:lstStyle/>
          <a:p>
            <a:pPr marL="285750" indent="-285750">
              <a:buFont typeface="Arial" panose="020B0604020202020204" pitchFamily="34" charset="0"/>
              <a:buChar char="•"/>
            </a:pPr>
            <a:r>
              <a:rPr lang="en-IN" b="1" dirty="0">
                <a:latin typeface="Dutch801 Rm BT" panose="02020603060505020304" pitchFamily="18" charset="0"/>
              </a:rPr>
              <a:t>Personal Care</a:t>
            </a:r>
          </a:p>
          <a:p>
            <a:r>
              <a:rPr lang="en-IN" b="1" dirty="0">
                <a:latin typeface="Dutch801 Rm BT" panose="02020603060505020304" pitchFamily="18" charset="0"/>
              </a:rPr>
              <a:t>          70.96K</a:t>
            </a:r>
          </a:p>
          <a:p>
            <a:pPr marL="285750" indent="-285750">
              <a:buFont typeface="Arial" panose="020B0604020202020204" pitchFamily="34" charset="0"/>
              <a:buChar char="•"/>
            </a:pPr>
            <a:r>
              <a:rPr lang="en-IN" b="1" dirty="0">
                <a:latin typeface="Dutch801 Rm BT" panose="02020603060505020304" pitchFamily="18" charset="0"/>
              </a:rPr>
              <a:t>Household</a:t>
            </a:r>
          </a:p>
          <a:p>
            <a:r>
              <a:rPr lang="en-IN" b="1" dirty="0">
                <a:latin typeface="Dutch801 Rm BT" panose="02020603060505020304" pitchFamily="18" charset="0"/>
              </a:rPr>
              <a:t>          69.18K</a:t>
            </a:r>
          </a:p>
          <a:p>
            <a:pPr marL="285750" indent="-285750">
              <a:buFont typeface="Arial" panose="020B0604020202020204" pitchFamily="34" charset="0"/>
              <a:buChar char="•"/>
            </a:pPr>
            <a:r>
              <a:rPr lang="en-IN" b="1" dirty="0">
                <a:latin typeface="Dutch801 Rm BT" panose="02020603060505020304" pitchFamily="18" charset="0"/>
              </a:rPr>
              <a:t>Beverages</a:t>
            </a:r>
          </a:p>
          <a:p>
            <a:r>
              <a:rPr lang="en-IN" b="1" dirty="0">
                <a:latin typeface="Dutch801 Rm BT" panose="02020603060505020304" pitchFamily="18" charset="0"/>
              </a:rPr>
              <a:t>          68.38K</a:t>
            </a:r>
          </a:p>
          <a:p>
            <a:pPr marL="285750" indent="-285750">
              <a:buFont typeface="Arial" panose="020B0604020202020204" pitchFamily="34" charset="0"/>
              <a:buChar char="•"/>
            </a:pPr>
            <a:r>
              <a:rPr lang="en-IN" b="1" dirty="0">
                <a:latin typeface="Dutch801 Rm BT" panose="02020603060505020304" pitchFamily="18" charset="0"/>
              </a:rPr>
              <a:t>Grocery</a:t>
            </a:r>
          </a:p>
          <a:p>
            <a:r>
              <a:rPr lang="en-IN" b="1" dirty="0">
                <a:latin typeface="Dutch801 Rm BT" panose="02020603060505020304" pitchFamily="18" charset="0"/>
              </a:rPr>
              <a:t>         54.13K</a:t>
            </a:r>
          </a:p>
          <a:p>
            <a:pPr marL="285750" indent="-285750">
              <a:buFont typeface="Arial" panose="020B0604020202020204" pitchFamily="34" charset="0"/>
              <a:buChar char="•"/>
            </a:pPr>
            <a:r>
              <a:rPr lang="en-IN" b="1" dirty="0">
                <a:latin typeface="Dutch801 Rm BT" panose="02020603060505020304" pitchFamily="18" charset="0"/>
              </a:rPr>
              <a:t>Furniture</a:t>
            </a:r>
          </a:p>
          <a:p>
            <a:r>
              <a:rPr lang="en-IN" b="1" dirty="0">
                <a:latin typeface="Dutch801 Rm BT" panose="02020603060505020304" pitchFamily="18" charset="0"/>
              </a:rPr>
              <a:t>        41.09K</a:t>
            </a:r>
          </a:p>
          <a:p>
            <a:r>
              <a:rPr lang="en-IN" b="1" dirty="0">
                <a:latin typeface="Dutch801 Rm BT" panose="02020603060505020304" pitchFamily="18" charset="0"/>
              </a:rPr>
              <a:t>Insight</a:t>
            </a:r>
            <a:r>
              <a:rPr lang="en-IN" dirty="0">
                <a:latin typeface="Dutch801 Rm BT" panose="02020603060505020304" pitchFamily="18" charset="0"/>
              </a:rPr>
              <a:t>: Personal Care is the highest-performing category, closely followed by Household and Beverages. Furniture has the lowest sales among the five categories shown.</a:t>
            </a:r>
          </a:p>
          <a:p>
            <a:endParaRPr lang="en-IN" dirty="0"/>
          </a:p>
        </p:txBody>
      </p:sp>
    </p:spTree>
    <p:extLst>
      <p:ext uri="{BB962C8B-B14F-4D97-AF65-F5344CB8AC3E}">
        <p14:creationId xmlns:p14="http://schemas.microsoft.com/office/powerpoint/2010/main" val="1540840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18E3FF-5535-45BB-6A74-832FCE4755D7}"/>
              </a:ext>
            </a:extLst>
          </p:cNvPr>
          <p:cNvSpPr txBox="1"/>
          <p:nvPr/>
        </p:nvSpPr>
        <p:spPr>
          <a:xfrm>
            <a:off x="1604210" y="1556085"/>
            <a:ext cx="9496927" cy="3354765"/>
          </a:xfrm>
          <a:prstGeom prst="rect">
            <a:avLst/>
          </a:prstGeom>
          <a:noFill/>
        </p:spPr>
        <p:txBody>
          <a:bodyPr wrap="square" rtlCol="0">
            <a:spAutoFit/>
          </a:bodyPr>
          <a:lstStyle/>
          <a:p>
            <a:r>
              <a:rPr lang="en-IN" sz="3200" b="1" dirty="0">
                <a:latin typeface="Dutch801 Rm BT" panose="02020603060505020304" pitchFamily="18" charset="0"/>
              </a:rPr>
              <a:t>Filters Available</a:t>
            </a:r>
          </a:p>
          <a:p>
            <a:endParaRPr lang="en-IN" dirty="0"/>
          </a:p>
          <a:p>
            <a:endParaRPr lang="en-IN" dirty="0"/>
          </a:p>
          <a:p>
            <a:r>
              <a:rPr lang="en-IN" dirty="0"/>
              <a:t>The dashboard also includes interactive filters to </a:t>
            </a:r>
            <a:r>
              <a:rPr lang="en-IN" dirty="0" err="1"/>
              <a:t>analyze</a:t>
            </a:r>
            <a:r>
              <a:rPr lang="en-IN" dirty="0"/>
              <a:t> particular parts of the business.</a:t>
            </a:r>
          </a:p>
          <a:p>
            <a:endParaRPr lang="en-IN" dirty="0"/>
          </a:p>
          <a:p>
            <a:pPr marL="285750" lvl="0" indent="-285750">
              <a:buFont typeface="Arial" panose="020B0604020202020204" pitchFamily="34" charset="0"/>
              <a:buChar char="•"/>
            </a:pPr>
            <a:r>
              <a:rPr lang="en-IN" dirty="0"/>
              <a:t>Year: Select 2024 or 2025.</a:t>
            </a:r>
          </a:p>
          <a:p>
            <a:pPr marL="285750" lvl="0" indent="-285750">
              <a:buFont typeface="Arial" panose="020B0604020202020204" pitchFamily="34" charset="0"/>
              <a:buChar char="•"/>
            </a:pPr>
            <a:r>
              <a:rPr lang="en-IN" dirty="0"/>
              <a:t>Month: Filter sales by a specific month.</a:t>
            </a:r>
          </a:p>
          <a:p>
            <a:pPr marL="285750" lvl="0" indent="-285750">
              <a:buFont typeface="Arial" panose="020B0604020202020204" pitchFamily="34" charset="0"/>
              <a:buChar char="•"/>
            </a:pPr>
            <a:r>
              <a:rPr lang="en-IN" dirty="0"/>
              <a:t>Sale Type: Compare different sales types.</a:t>
            </a:r>
          </a:p>
          <a:p>
            <a:pPr marL="285750" lvl="0" indent="-285750">
              <a:buFont typeface="Arial" panose="020B0604020202020204" pitchFamily="34" charset="0"/>
              <a:buChar char="•"/>
            </a:pPr>
            <a:r>
              <a:rPr lang="en-IN" dirty="0"/>
              <a:t>Payment Mode: Compare online and cash payments.</a:t>
            </a:r>
          </a:p>
          <a:p>
            <a:pPr lvl="0"/>
            <a:endParaRPr lang="en-IN" dirty="0"/>
          </a:p>
          <a:p>
            <a:r>
              <a:rPr lang="en-IN" dirty="0"/>
              <a:t>These filters help users investigate sales trends for specific periods and transaction types.</a:t>
            </a:r>
          </a:p>
        </p:txBody>
      </p:sp>
    </p:spTree>
    <p:extLst>
      <p:ext uri="{BB962C8B-B14F-4D97-AF65-F5344CB8AC3E}">
        <p14:creationId xmlns:p14="http://schemas.microsoft.com/office/powerpoint/2010/main" val="1651573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72E0C8-5C89-6BC4-DD32-BC7737BD993D}"/>
              </a:ext>
            </a:extLst>
          </p:cNvPr>
          <p:cNvSpPr txBox="1"/>
          <p:nvPr/>
        </p:nvSpPr>
        <p:spPr>
          <a:xfrm>
            <a:off x="1058779" y="1058779"/>
            <a:ext cx="10170695" cy="4976812"/>
          </a:xfrm>
          <a:prstGeom prst="rect">
            <a:avLst/>
          </a:prstGeom>
          <a:noFill/>
        </p:spPr>
        <p:txBody>
          <a:bodyPr wrap="square" rtlCol="0">
            <a:spAutoFit/>
          </a:bodyPr>
          <a:lstStyle/>
          <a:p>
            <a:r>
              <a:rPr lang="en-IN" sz="3200" b="1" dirty="0">
                <a:latin typeface="Dutch801 Rm BT" panose="02020603060505020304" pitchFamily="18" charset="0"/>
              </a:rPr>
              <a:t>Overall Business Insights and Recommendations</a:t>
            </a:r>
          </a:p>
          <a:p>
            <a:r>
              <a:rPr lang="en-IN" b="1" dirty="0"/>
              <a:t> </a:t>
            </a:r>
          </a:p>
          <a:p>
            <a:pPr>
              <a:lnSpc>
                <a:spcPct val="150000"/>
              </a:lnSpc>
            </a:pPr>
            <a:r>
              <a:rPr lang="en-IN" dirty="0"/>
              <a:t>1. Focus on top-performing products Increase availability and consider targeted promotions for Plastic Mat and Carpet Roll.</a:t>
            </a:r>
          </a:p>
          <a:p>
            <a:pPr>
              <a:lnSpc>
                <a:spcPct val="150000"/>
              </a:lnSpc>
            </a:pPr>
            <a:r>
              <a:rPr lang="en-IN" dirty="0"/>
              <a:t>2. Investigate monthly trends Study why January performs well and identify ways to improve April sales.</a:t>
            </a:r>
          </a:p>
          <a:p>
            <a:pPr>
              <a:lnSpc>
                <a:spcPct val="150000"/>
              </a:lnSpc>
            </a:pPr>
            <a:r>
              <a:rPr lang="en-IN" dirty="0"/>
              <a:t>3. Maintain payment flexibility Continue supporting both cash and online payments while making digital payments convenient.</a:t>
            </a:r>
          </a:p>
          <a:p>
            <a:pPr>
              <a:lnSpc>
                <a:spcPct val="150000"/>
              </a:lnSpc>
            </a:pPr>
            <a:r>
              <a:rPr lang="en-IN" dirty="0"/>
              <a:t>4. Improve profitability Review product costs, discounts, and operating expenses to determine how profit margins can be improved.</a:t>
            </a:r>
          </a:p>
          <a:p>
            <a:pPr>
              <a:lnSpc>
                <a:spcPct val="150000"/>
              </a:lnSpc>
            </a:pPr>
            <a:r>
              <a:rPr lang="en-IN" dirty="0"/>
              <a:t>5. Develop lower-performing categories Investigate Furniture and Grocery sales to identify opportunities for better merchandising and customer targeting.</a:t>
            </a:r>
          </a:p>
        </p:txBody>
      </p:sp>
    </p:spTree>
    <p:extLst>
      <p:ext uri="{BB962C8B-B14F-4D97-AF65-F5344CB8AC3E}">
        <p14:creationId xmlns:p14="http://schemas.microsoft.com/office/powerpoint/2010/main" val="937420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279A70-E10E-051E-7B96-8E35A04120AF}"/>
              </a:ext>
            </a:extLst>
          </p:cNvPr>
          <p:cNvSpPr txBox="1"/>
          <p:nvPr/>
        </p:nvSpPr>
        <p:spPr>
          <a:xfrm>
            <a:off x="1042737" y="1251256"/>
            <a:ext cx="10106526" cy="4355488"/>
          </a:xfrm>
          <a:prstGeom prst="rect">
            <a:avLst/>
          </a:prstGeom>
          <a:noFill/>
        </p:spPr>
        <p:txBody>
          <a:bodyPr wrap="square" rtlCol="0">
            <a:spAutoFit/>
          </a:bodyPr>
          <a:lstStyle/>
          <a:p>
            <a:pPr algn="ctr"/>
            <a:r>
              <a:rPr lang="en-IN" sz="3200" b="1" dirty="0">
                <a:latin typeface="Dutch801 Rm BT" panose="02020603060505020304" pitchFamily="18" charset="0"/>
              </a:rPr>
              <a:t>Conclusion</a:t>
            </a:r>
          </a:p>
          <a:p>
            <a:pPr algn="ctr"/>
            <a:endParaRPr lang="en-IN" sz="3200" b="1" dirty="0">
              <a:latin typeface="Dutch801 Rm BT" panose="02020603060505020304" pitchFamily="18" charset="0"/>
            </a:endParaRPr>
          </a:p>
          <a:p>
            <a:pPr>
              <a:lnSpc>
                <a:spcPct val="150000"/>
              </a:lnSpc>
            </a:pPr>
            <a:r>
              <a:rPr lang="en-IN" dirty="0">
                <a:latin typeface="Dutch801 Rm BT" panose="02020603060505020304" pitchFamily="18" charset="0"/>
              </a:rPr>
              <a:t>The dashboard reports 303.74K in total sales, 132 units sold, 29K in profit, and a 9% profit margin. Personal Care is the leading category, Plastic Mat is the top product shown, January is the strongest month, and direct sales are the largest sales channel.</a:t>
            </a:r>
          </a:p>
          <a:p>
            <a:pPr>
              <a:lnSpc>
                <a:spcPct val="150000"/>
              </a:lnSpc>
            </a:pPr>
            <a:r>
              <a:rPr lang="en-IN" dirty="0">
                <a:latin typeface="Dutch801 Rm BT" panose="02020603060505020304" pitchFamily="18" charset="0"/>
              </a:rPr>
              <a:t>The main priorities should be to improve sales during weaker periods, maintain strong-performing product inventory, grow online and wholesale channels, and investigate ways to improve profitability.</a:t>
            </a:r>
          </a:p>
          <a:p>
            <a:pPr>
              <a:lnSpc>
                <a:spcPct val="150000"/>
              </a:lnSpc>
            </a:pPr>
            <a:r>
              <a:rPr lang="en-IN" dirty="0">
                <a:latin typeface="Dutch801 Rm BT" panose="02020603060505020304" pitchFamily="18" charset="0"/>
              </a:rPr>
              <a:t>Note: These findings reflect the values visible in the screenshot. The currency, exact reporting period, and calculation behind the 9% profit figure are not specified. It would be worth verifying that the profit percentage is calculated consistently with total sales and profit</a:t>
            </a:r>
          </a:p>
        </p:txBody>
      </p:sp>
    </p:spTree>
    <p:extLst>
      <p:ext uri="{BB962C8B-B14F-4D97-AF65-F5344CB8AC3E}">
        <p14:creationId xmlns:p14="http://schemas.microsoft.com/office/powerpoint/2010/main" val="625626845"/>
      </p:ext>
    </p:extLst>
  </p:cSld>
  <p:clrMapOvr>
    <a:masterClrMapping/>
  </p:clrMapOvr>
</p:sld>
</file>

<file path=ppt/theme/theme1.xml><?xml version="1.0" encoding="utf-8"?>
<a:theme xmlns:a="http://schemas.openxmlformats.org/drawingml/2006/main" name="Archway">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docProps/app.xml><?xml version="1.0" encoding="utf-8"?>
<Properties xmlns="http://schemas.openxmlformats.org/officeDocument/2006/extended-properties" xmlns:vt="http://schemas.openxmlformats.org/officeDocument/2006/docPropsVTypes">
  <Template>Archway</Template>
  <TotalTime>98</TotalTime>
  <Words>788</Words>
  <Application>Microsoft Office PowerPoint</Application>
  <PresentationFormat>Widescreen</PresentationFormat>
  <Paragraphs>98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Dutch801 Rm BT</vt:lpstr>
      <vt:lpstr>Felix Titling</vt:lpstr>
      <vt:lpstr>Goudy Old Style</vt:lpstr>
      <vt:lpstr>Archway</vt:lpstr>
      <vt:lpstr>PowerPoint Presentation</vt:lpstr>
      <vt:lpstr>1. Key Performance Indicators (KPIs) </vt:lpstr>
      <vt:lpstr>Sales and Profit by Month </vt:lpstr>
      <vt:lpstr>3. Sales by Payment Mode </vt:lpstr>
      <vt:lpstr>Sales by Products</vt:lpstr>
      <vt:lpstr>Daily Sales Analysis</vt:lpstr>
      <vt:lpstr>Sales by Category</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Trupti</dc:creator>
  <cp:lastModifiedBy>Trupti</cp:lastModifiedBy>
  <cp:revision>1</cp:revision>
  <dcterms:created xsi:type="dcterms:W3CDTF">2026-10-11T15:32:05Z</dcterms:created>
  <dcterms:modified xsi:type="dcterms:W3CDTF">2026-10-11T17:10:47Z</dcterms:modified>
</cp:coreProperties>
</file>